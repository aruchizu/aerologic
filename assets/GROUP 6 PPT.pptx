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9753600" cy="7315200"/>
  <p:notesSz cx="6858000" cy="9144000"/>
  <p:embeddedFontLst>
    <p:embeddedFont>
      <p:font typeface="Poppins" charset="1" panose="00000500000000000000"/>
      <p:regular r:id="rId21"/>
    </p:embeddedFont>
    <p:embeddedFont>
      <p:font typeface="Etna Sans Serif" charset="1" panose="02000600000000000000"/>
      <p:regular r:id="rId22"/>
    </p:embeddedFont>
    <p:embeddedFont>
      <p:font typeface="Poppins Bold" charset="1" panose="00000800000000000000"/>
      <p:regular r:id="rId23"/>
    </p:embeddedFont>
    <p:embeddedFont>
      <p:font typeface="Times New Roman MT Italics" charset="1" panose="02030502070405090303"/>
      <p:regular r:id="rId24"/>
    </p:embeddedFont>
    <p:embeddedFont>
      <p:font typeface="Poppins Italics" charset="1" panose="000005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0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64760" y="1486913"/>
            <a:ext cx="4473813" cy="3808402"/>
            <a:chOff x="0" y="0"/>
            <a:chExt cx="5965085" cy="5077869"/>
          </a:xfrm>
        </p:grpSpPr>
        <p:sp>
          <p:nvSpPr>
            <p:cNvPr name="AutoShape 3" id="3"/>
            <p:cNvSpPr/>
            <p:nvPr/>
          </p:nvSpPr>
          <p:spPr>
            <a:xfrm>
              <a:off x="0" y="0"/>
              <a:ext cx="5965085" cy="5077869"/>
            </a:xfrm>
            <a:prstGeom prst="rect">
              <a:avLst/>
            </a:pr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29603" y="1335415"/>
            <a:ext cx="3932748" cy="3656904"/>
            <a:chOff x="0" y="0"/>
            <a:chExt cx="5243664" cy="4875872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2"/>
            <a:srcRect l="14174" t="0" r="14174" b="0"/>
            <a:stretch>
              <a:fillRect/>
            </a:stretch>
          </p:blipFill>
          <p:spPr>
            <a:xfrm flipH="false" flipV="false">
              <a:off x="0" y="0"/>
              <a:ext cx="5243664" cy="4875872"/>
            </a:xfrm>
            <a:prstGeom prst="rect">
              <a:avLst/>
            </a:prstGeom>
          </p:spPr>
        </p:pic>
      </p:grpSp>
      <p:sp>
        <p:nvSpPr>
          <p:cNvPr name="Freeform 6" id="6"/>
          <p:cNvSpPr/>
          <p:nvPr/>
        </p:nvSpPr>
        <p:spPr>
          <a:xfrm flipH="false" flipV="false" rot="0">
            <a:off x="-284245" y="6112289"/>
            <a:ext cx="5181294" cy="5181294"/>
          </a:xfrm>
          <a:custGeom>
            <a:avLst/>
            <a:gdLst/>
            <a:ahLst/>
            <a:cxnLst/>
            <a:rect r="r" b="b" t="t" l="l"/>
            <a:pathLst>
              <a:path h="5181294" w="5181294">
                <a:moveTo>
                  <a:pt x="0" y="0"/>
                </a:moveTo>
                <a:lnTo>
                  <a:pt x="5181294" y="0"/>
                </a:lnTo>
                <a:lnTo>
                  <a:pt x="5181294" y="5181294"/>
                </a:lnTo>
                <a:lnTo>
                  <a:pt x="0" y="51812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887448" y="6112289"/>
            <a:ext cx="5150396" cy="5181294"/>
          </a:xfrm>
          <a:custGeom>
            <a:avLst/>
            <a:gdLst/>
            <a:ahLst/>
            <a:cxnLst/>
            <a:rect r="r" b="b" t="t" l="l"/>
            <a:pathLst>
              <a:path h="5181294" w="5150396">
                <a:moveTo>
                  <a:pt x="0" y="0"/>
                </a:moveTo>
                <a:lnTo>
                  <a:pt x="5150397" y="0"/>
                </a:lnTo>
                <a:lnTo>
                  <a:pt x="5150397" y="5181294"/>
                </a:lnTo>
                <a:lnTo>
                  <a:pt x="0" y="51812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599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52535" y="3809693"/>
            <a:ext cx="5300868" cy="546355"/>
            <a:chOff x="0" y="0"/>
            <a:chExt cx="1822173" cy="1878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2173" cy="187810"/>
            </a:xfrm>
            <a:custGeom>
              <a:avLst/>
              <a:gdLst/>
              <a:ahLst/>
              <a:cxnLst/>
              <a:rect r="r" b="b" t="t" l="l"/>
              <a:pathLst>
                <a:path h="187810" w="1822173">
                  <a:moveTo>
                    <a:pt x="93905" y="0"/>
                  </a:moveTo>
                  <a:lnTo>
                    <a:pt x="1728269" y="0"/>
                  </a:lnTo>
                  <a:cubicBezTo>
                    <a:pt x="1753174" y="0"/>
                    <a:pt x="1777059" y="9894"/>
                    <a:pt x="1794669" y="27504"/>
                  </a:cubicBezTo>
                  <a:cubicBezTo>
                    <a:pt x="1812280" y="45115"/>
                    <a:pt x="1822173" y="69000"/>
                    <a:pt x="1822173" y="93905"/>
                  </a:cubicBezTo>
                  <a:lnTo>
                    <a:pt x="1822173" y="93905"/>
                  </a:lnTo>
                  <a:cubicBezTo>
                    <a:pt x="1822173" y="145767"/>
                    <a:pt x="1780131" y="187810"/>
                    <a:pt x="1728269" y="187810"/>
                  </a:cubicBezTo>
                  <a:lnTo>
                    <a:pt x="93905" y="187810"/>
                  </a:lnTo>
                  <a:cubicBezTo>
                    <a:pt x="69000" y="187810"/>
                    <a:pt x="45115" y="177916"/>
                    <a:pt x="27504" y="160305"/>
                  </a:cubicBezTo>
                  <a:cubicBezTo>
                    <a:pt x="9894" y="142695"/>
                    <a:pt x="0" y="118810"/>
                    <a:pt x="0" y="93905"/>
                  </a:cubicBezTo>
                  <a:lnTo>
                    <a:pt x="0" y="93905"/>
                  </a:lnTo>
                  <a:cubicBezTo>
                    <a:pt x="0" y="69000"/>
                    <a:pt x="9894" y="45115"/>
                    <a:pt x="27504" y="27504"/>
                  </a:cubicBezTo>
                  <a:cubicBezTo>
                    <a:pt x="45115" y="9894"/>
                    <a:pt x="69000" y="0"/>
                    <a:pt x="93905" y="0"/>
                  </a:cubicBezTo>
                  <a:close/>
                </a:path>
              </a:pathLst>
            </a:custGeom>
            <a:solidFill>
              <a:srgbClr val="A5E92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822173" cy="244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PRESENTERS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52535" y="1068816"/>
            <a:ext cx="5300868" cy="2709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7"/>
              </a:lnSpc>
            </a:pPr>
            <a:r>
              <a:rPr lang="en-US" sz="3537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A Comparative Assessment of the Perceived Usability of Mobile Phones and PCs for Coding Tasks Among IT Students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843647" y="906405"/>
            <a:ext cx="858020" cy="85802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E92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27324" y="4467225"/>
            <a:ext cx="3502927" cy="22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Belt</a:t>
            </a: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ran, Sophia Marielle C.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Candia, Alfonso Raphael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Eugenio, Diether B.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Matias, Persia Marnilyn V.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Niar, Agatha Eunice B.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Salazar, Marcus Zander Yeoj M.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C0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7151" y="1796463"/>
            <a:ext cx="8999298" cy="5042036"/>
            <a:chOff x="0" y="0"/>
            <a:chExt cx="11999064" cy="6722714"/>
          </a:xfrm>
        </p:grpSpPr>
        <p:sp>
          <p:nvSpPr>
            <p:cNvPr name="AutoShape 3" id="3"/>
            <p:cNvSpPr/>
            <p:nvPr/>
          </p:nvSpPr>
          <p:spPr>
            <a:xfrm>
              <a:off x="0" y="0"/>
              <a:ext cx="11999064" cy="6722714"/>
            </a:xfrm>
            <a:prstGeom prst="rect">
              <a:avLst/>
            </a:prstGeom>
            <a:solidFill>
              <a:srgbClr val="A5E92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377151" y="836295"/>
            <a:ext cx="8999298" cy="70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7"/>
              </a:lnSpc>
            </a:pPr>
            <a:r>
              <a:rPr lang="en-US" sz="5337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Statement of the Problem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1520" y="2067116"/>
            <a:ext cx="8290560" cy="899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</a:t>
            </a:r>
            <a:r>
              <a:rPr lang="en-US" sz="17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is study aims to assess and compare the perceived usability of mobile phones and PCs for coding tasks among IT students using a survey questionnaire. Specifically, it seeks to answer the following questions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77151" y="6781349"/>
            <a:ext cx="8999298" cy="325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Your paragraph text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1520" y="3190969"/>
            <a:ext cx="5704352" cy="1345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What is the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profile of the respondents in terms of:</a:t>
            </a:r>
          </a:p>
          <a:p>
            <a:pPr algn="l">
              <a:lnSpc>
                <a:spcPts val="1764"/>
              </a:lnSpc>
            </a:pPr>
          </a:p>
          <a:p>
            <a:pPr algn="l" marL="388620" indent="-194310" lvl="1">
              <a:lnSpc>
                <a:spcPts val="176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Year level</a:t>
            </a:r>
          </a:p>
          <a:p>
            <a:pPr algn="l" marL="388620" indent="-194310" lvl="1">
              <a:lnSpc>
                <a:spcPts val="176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Coding experience level</a:t>
            </a:r>
          </a:p>
          <a:p>
            <a:pPr algn="l" marL="388620" indent="-194310" lvl="1">
              <a:lnSpc>
                <a:spcPts val="176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Devices used for coding</a:t>
            </a:r>
          </a:p>
          <a:p>
            <a:pPr algn="l">
              <a:lnSpc>
                <a:spcPts val="1764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31520" y="4546081"/>
            <a:ext cx="6033904" cy="2002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How do first-year IT students perceive the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usability of PCs for coding tasks in terms of:</a:t>
            </a:r>
          </a:p>
          <a:p>
            <a:pPr algn="l">
              <a:lnSpc>
                <a:spcPts val="1764"/>
              </a:lnSpc>
            </a:pPr>
          </a:p>
          <a:p>
            <a:pPr algn="l" marL="388620" indent="-194310" lvl="1">
              <a:lnSpc>
                <a:spcPts val="176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Effectiveness</a:t>
            </a:r>
          </a:p>
          <a:p>
            <a:pPr algn="l" marL="388620" indent="-194310" lvl="1">
              <a:lnSpc>
                <a:spcPts val="176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Eff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iciency</a:t>
            </a:r>
          </a:p>
          <a:p>
            <a:pPr algn="l" marL="388620" indent="-194310" lvl="1">
              <a:lnSpc>
                <a:spcPts val="176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 of use</a:t>
            </a:r>
          </a:p>
          <a:p>
            <a:pPr algn="l" marL="388620" indent="-194310" lvl="1">
              <a:lnSpc>
                <a:spcPts val="176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Satisfaction</a:t>
            </a:r>
          </a:p>
          <a:p>
            <a:pPr algn="l" marL="388620" indent="-194310" lvl="1">
              <a:lnSpc>
                <a:spcPts val="176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Convenience</a:t>
            </a:r>
          </a:p>
          <a:p>
            <a:pPr algn="l">
              <a:lnSpc>
                <a:spcPts val="1764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C0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7151" y="1796463"/>
            <a:ext cx="8999298" cy="5042036"/>
            <a:chOff x="0" y="0"/>
            <a:chExt cx="11999064" cy="6722714"/>
          </a:xfrm>
        </p:grpSpPr>
        <p:sp>
          <p:nvSpPr>
            <p:cNvPr name="AutoShape 3" id="3"/>
            <p:cNvSpPr/>
            <p:nvPr/>
          </p:nvSpPr>
          <p:spPr>
            <a:xfrm>
              <a:off x="0" y="0"/>
              <a:ext cx="11999064" cy="6722714"/>
            </a:xfrm>
            <a:prstGeom prst="rect">
              <a:avLst/>
            </a:prstGeom>
            <a:solidFill>
              <a:srgbClr val="A5E92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377151" y="836295"/>
            <a:ext cx="8999298" cy="70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7"/>
              </a:lnSpc>
            </a:pPr>
            <a:r>
              <a:rPr lang="en-US" sz="5337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Statement of the Problem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1520" y="2067116"/>
            <a:ext cx="8290560" cy="899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</a:t>
            </a:r>
            <a:r>
              <a:rPr lang="en-US" sz="17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is study aims to assess and compare the perceived usability of mobile phones and PCs for coding tasks among IT students using a survey questionnaire. Specifically, it seeks to answer the following questions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77151" y="6781349"/>
            <a:ext cx="8999298" cy="325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Your paragraph text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1520" y="3190969"/>
            <a:ext cx="8091013" cy="2002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How do first-year IT students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perceive the usability of mobile phones for coding tasks in terms of:</a:t>
            </a:r>
          </a:p>
          <a:p>
            <a:pPr algn="l">
              <a:lnSpc>
                <a:spcPts val="1764"/>
              </a:lnSpc>
            </a:pPr>
          </a:p>
          <a:p>
            <a:pPr algn="l" marL="388620" indent="-194310" lvl="1">
              <a:lnSpc>
                <a:spcPts val="176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Effectiveness</a:t>
            </a:r>
          </a:p>
          <a:p>
            <a:pPr algn="l" marL="388620" indent="-194310" lvl="1">
              <a:lnSpc>
                <a:spcPts val="176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Eff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iciency</a:t>
            </a:r>
          </a:p>
          <a:p>
            <a:pPr algn="l" marL="388620" indent="-194310" lvl="1">
              <a:lnSpc>
                <a:spcPts val="176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Ease of use</a:t>
            </a:r>
          </a:p>
          <a:p>
            <a:pPr algn="l" marL="388620" indent="-194310" lvl="1">
              <a:lnSpc>
                <a:spcPts val="176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Sat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isfaction</a:t>
            </a:r>
          </a:p>
          <a:p>
            <a:pPr algn="l" marL="388620" indent="-194310" lvl="1">
              <a:lnSpc>
                <a:spcPts val="176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Convenience</a:t>
            </a:r>
          </a:p>
          <a:p>
            <a:pPr algn="l">
              <a:lnSpc>
                <a:spcPts val="1764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31520" y="5136546"/>
            <a:ext cx="8290560" cy="604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</a:t>
            </a:r>
            <a:r>
              <a:rPr lang="en-US" sz="17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 there a significant difference between mobile phones and PCs in terms of perceived usability for coding tasks among first-year IT students?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4908" y="2473097"/>
            <a:ext cx="2802152" cy="3747999"/>
            <a:chOff x="0" y="0"/>
            <a:chExt cx="3736203" cy="4997332"/>
          </a:xfrm>
        </p:grpSpPr>
        <p:sp>
          <p:nvSpPr>
            <p:cNvPr name="AutoShape 3" id="3"/>
            <p:cNvSpPr/>
            <p:nvPr/>
          </p:nvSpPr>
          <p:spPr>
            <a:xfrm>
              <a:off x="0" y="0"/>
              <a:ext cx="3736203" cy="4997332"/>
            </a:xfrm>
            <a:prstGeom prst="rect">
              <a:avLst/>
            </a:prstGeom>
            <a:solidFill>
              <a:srgbClr val="A5E92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20003" y="845820"/>
            <a:ext cx="4989575" cy="1541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7"/>
              </a:lnSpc>
            </a:pPr>
            <a:r>
              <a:rPr lang="en-US" sz="5937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Objectives of the Study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27481" y="2723702"/>
            <a:ext cx="2410154" cy="3199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4"/>
              </a:lnSpc>
            </a:pPr>
            <a:r>
              <a:rPr lang="en-US" sz="15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1. Respondents’ Profile</a:t>
            </a:r>
          </a:p>
          <a:p>
            <a:pPr algn="l" marL="330729" indent="-165364" lvl="1">
              <a:lnSpc>
                <a:spcPts val="2144"/>
              </a:lnSpc>
              <a:buFont typeface="Arial"/>
              <a:buChar char="•"/>
            </a:pPr>
            <a:r>
              <a:rPr lang="en-US" sz="15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Determine the resp</a:t>
            </a:r>
            <a:r>
              <a:rPr lang="en-US" sz="15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ondents’ year level</a:t>
            </a:r>
          </a:p>
          <a:p>
            <a:pPr algn="l" marL="330729" indent="-165364" lvl="1">
              <a:lnSpc>
                <a:spcPts val="2144"/>
              </a:lnSpc>
              <a:buFont typeface="Arial"/>
              <a:buChar char="•"/>
            </a:pPr>
            <a:r>
              <a:rPr lang="en-US" sz="15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Identify their c</a:t>
            </a:r>
            <a:r>
              <a:rPr lang="en-US" sz="15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oding experience level</a:t>
            </a:r>
          </a:p>
          <a:p>
            <a:pPr algn="l" marL="330729" indent="-165364" lvl="1">
              <a:lnSpc>
                <a:spcPts val="2144"/>
              </a:lnSpc>
              <a:buFont typeface="Arial"/>
              <a:buChar char="•"/>
            </a:pPr>
            <a:r>
              <a:rPr lang="en-US" sz="15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Determine the devices they use for coding, such as PC, mobile phone, or both</a:t>
            </a:r>
          </a:p>
          <a:p>
            <a:pPr algn="l">
              <a:lnSpc>
                <a:spcPts val="2144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7536425" y="1160530"/>
            <a:ext cx="858020" cy="85802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E92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482801" y="2473097"/>
            <a:ext cx="2802152" cy="3747999"/>
            <a:chOff x="0" y="0"/>
            <a:chExt cx="3736203" cy="4997332"/>
          </a:xfrm>
        </p:grpSpPr>
        <p:sp>
          <p:nvSpPr>
            <p:cNvPr name="AutoShape 10" id="10"/>
            <p:cNvSpPr/>
            <p:nvPr/>
          </p:nvSpPr>
          <p:spPr>
            <a:xfrm>
              <a:off x="0" y="0"/>
              <a:ext cx="3736203" cy="4997332"/>
            </a:xfrm>
            <a:prstGeom prst="rect">
              <a:avLst/>
            </a:prstGeom>
            <a:solidFill>
              <a:srgbClr val="A5E926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705374" y="2703472"/>
            <a:ext cx="2410154" cy="3359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4"/>
              </a:lnSpc>
            </a:pPr>
            <a:r>
              <a:rPr lang="en-US" sz="12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 Perceived Usability of Coding Devices</a:t>
            </a:r>
          </a:p>
          <a:p>
            <a:pPr algn="l" marL="265960" indent="-132980" lvl="1">
              <a:lnSpc>
                <a:spcPts val="1724"/>
              </a:lnSpc>
              <a:buFont typeface="Arial"/>
              <a:buChar char="•"/>
            </a:pPr>
            <a:r>
              <a:rPr lang="en-US" sz="12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Assess the perceived usability of PCs</a:t>
            </a:r>
            <a:r>
              <a:rPr lang="en-US" sz="12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for coding tasks</a:t>
            </a:r>
          </a:p>
          <a:p>
            <a:pPr algn="l" marL="265960" indent="-132980" lvl="1">
              <a:lnSpc>
                <a:spcPts val="1724"/>
              </a:lnSpc>
              <a:buFont typeface="Arial"/>
              <a:buChar char="•"/>
            </a:pPr>
            <a:r>
              <a:rPr lang="en-US" sz="12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Assess the perceived usability of mobile phones for coding tasks</a:t>
            </a:r>
          </a:p>
          <a:p>
            <a:pPr algn="l" marL="265960" indent="-132980" lvl="1">
              <a:lnSpc>
                <a:spcPts val="1724"/>
              </a:lnSpc>
              <a:buFont typeface="Arial"/>
              <a:buChar char="•"/>
            </a:pPr>
            <a:r>
              <a:rPr lang="en-US" sz="12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Measure usability in terms of:</a:t>
            </a:r>
          </a:p>
          <a:p>
            <a:pPr algn="l" marL="531920" indent="-177307" lvl="2">
              <a:lnSpc>
                <a:spcPts val="1724"/>
              </a:lnSpc>
              <a:buFont typeface="Arial"/>
              <a:buChar char="⚬"/>
            </a:pPr>
            <a:r>
              <a:rPr lang="en-US" sz="12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Effectiveness</a:t>
            </a:r>
          </a:p>
          <a:p>
            <a:pPr algn="l" marL="531920" indent="-177307" lvl="2">
              <a:lnSpc>
                <a:spcPts val="1724"/>
              </a:lnSpc>
              <a:buFont typeface="Arial"/>
              <a:buChar char="⚬"/>
            </a:pPr>
            <a:r>
              <a:rPr lang="en-US" sz="12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Efficiency</a:t>
            </a:r>
          </a:p>
          <a:p>
            <a:pPr algn="l" marL="531920" indent="-177307" lvl="2">
              <a:lnSpc>
                <a:spcPts val="1724"/>
              </a:lnSpc>
              <a:buFont typeface="Arial"/>
              <a:buChar char="⚬"/>
            </a:pPr>
            <a:r>
              <a:rPr lang="en-US" sz="12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Ease of use</a:t>
            </a:r>
          </a:p>
          <a:p>
            <a:pPr algn="l" marL="531920" indent="-177307" lvl="2">
              <a:lnSpc>
                <a:spcPts val="1724"/>
              </a:lnSpc>
              <a:buFont typeface="Arial"/>
              <a:buChar char="⚬"/>
            </a:pPr>
            <a:r>
              <a:rPr lang="en-US" sz="12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Satisfaction</a:t>
            </a:r>
          </a:p>
          <a:p>
            <a:pPr algn="l" marL="531920" indent="-177307" lvl="2">
              <a:lnSpc>
                <a:spcPts val="1724"/>
              </a:lnSpc>
              <a:buFont typeface="Arial"/>
              <a:buChar char="⚬"/>
            </a:pPr>
            <a:r>
              <a:rPr lang="en-US" sz="12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Convenience</a:t>
            </a:r>
          </a:p>
          <a:p>
            <a:pPr algn="l">
              <a:lnSpc>
                <a:spcPts val="1724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6457659" y="2473097"/>
            <a:ext cx="2802152" cy="3747999"/>
            <a:chOff x="0" y="0"/>
            <a:chExt cx="3736203" cy="4997332"/>
          </a:xfrm>
        </p:grpSpPr>
        <p:sp>
          <p:nvSpPr>
            <p:cNvPr name="AutoShape 13" id="13"/>
            <p:cNvSpPr/>
            <p:nvPr/>
          </p:nvSpPr>
          <p:spPr>
            <a:xfrm>
              <a:off x="0" y="0"/>
              <a:ext cx="3736203" cy="4997332"/>
            </a:xfrm>
            <a:prstGeom prst="rect">
              <a:avLst/>
            </a:prstGeom>
            <a:solidFill>
              <a:srgbClr val="A5E926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680231" y="2703472"/>
            <a:ext cx="2410154" cy="3205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4"/>
              </a:lnSpc>
            </a:pPr>
            <a:r>
              <a:rPr lang="en-US" sz="13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 Comparison Between PCs and Mobile Phones</a:t>
            </a:r>
          </a:p>
          <a:p>
            <a:pPr algn="l" marL="287550" indent="-143775" lvl="1">
              <a:lnSpc>
                <a:spcPts val="1864"/>
              </a:lnSpc>
              <a:buFont typeface="Arial"/>
              <a:buChar char="•"/>
            </a:pPr>
            <a:r>
              <a:rPr lang="en-US" sz="13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Compare the perceived usability of PCs and mobile phones</a:t>
            </a:r>
          </a:p>
          <a:p>
            <a:pPr algn="l" marL="287550" indent="-143775" lvl="1">
              <a:lnSpc>
                <a:spcPts val="1864"/>
              </a:lnSpc>
              <a:buFont typeface="Arial"/>
              <a:buChar char="•"/>
            </a:pPr>
            <a:r>
              <a:rPr lang="en-US" sz="13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Determ</a:t>
            </a:r>
            <a:r>
              <a:rPr lang="en-US" sz="13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ine if there is a significant difference between the two devices</a:t>
            </a:r>
          </a:p>
          <a:p>
            <a:pPr algn="l" marL="287550" indent="-143775" lvl="1">
              <a:lnSpc>
                <a:spcPts val="1864"/>
              </a:lnSpc>
              <a:buFont typeface="Arial"/>
              <a:buChar char="•"/>
            </a:pPr>
            <a:r>
              <a:rPr lang="en-US" sz="13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Identi</a:t>
            </a:r>
            <a:r>
              <a:rPr lang="en-US" sz="133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fy which device is perceived as more usable for coding tasks among first-year IT students</a:t>
            </a:r>
          </a:p>
          <a:p>
            <a:pPr algn="l">
              <a:lnSpc>
                <a:spcPts val="1864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0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65660" y="5632132"/>
            <a:ext cx="8114006" cy="0"/>
          </a:xfrm>
          <a:prstGeom prst="line">
            <a:avLst/>
          </a:prstGeom>
          <a:ln cap="flat" w="28575">
            <a:solidFill>
              <a:srgbClr val="A5E92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-1465175" y="-733655"/>
            <a:ext cx="2930350" cy="293035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E92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156944" y="1474391"/>
            <a:ext cx="888464" cy="2926080"/>
          </a:xfrm>
          <a:custGeom>
            <a:avLst/>
            <a:gdLst/>
            <a:ahLst/>
            <a:cxnLst/>
            <a:rect r="r" b="b" t="t" l="l"/>
            <a:pathLst>
              <a:path h="2926080" w="888464">
                <a:moveTo>
                  <a:pt x="0" y="0"/>
                </a:moveTo>
                <a:lnTo>
                  <a:pt x="888464" y="0"/>
                </a:lnTo>
                <a:lnTo>
                  <a:pt x="888464" y="2926080"/>
                </a:lnTo>
                <a:lnTo>
                  <a:pt x="0" y="2926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31520" y="6583680"/>
            <a:ext cx="8290560" cy="1079942"/>
            <a:chOff x="0" y="0"/>
            <a:chExt cx="11054080" cy="1439923"/>
          </a:xfrm>
        </p:grpSpPr>
        <p:sp>
          <p:nvSpPr>
            <p:cNvPr name="AutoShape 8" id="8"/>
            <p:cNvSpPr/>
            <p:nvPr/>
          </p:nvSpPr>
          <p:spPr>
            <a:xfrm>
              <a:off x="0" y="0"/>
              <a:ext cx="11054080" cy="1439923"/>
            </a:xfrm>
            <a:prstGeom prst="rect">
              <a:avLst/>
            </a:prstGeom>
            <a:solidFill>
              <a:srgbClr val="A5E926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065660" y="2330045"/>
            <a:ext cx="8059292" cy="2992525"/>
          </a:xfrm>
          <a:custGeom>
            <a:avLst/>
            <a:gdLst/>
            <a:ahLst/>
            <a:cxnLst/>
            <a:rect r="r" b="b" t="t" l="l"/>
            <a:pathLst>
              <a:path h="2992525" w="8059292">
                <a:moveTo>
                  <a:pt x="0" y="0"/>
                </a:moveTo>
                <a:lnTo>
                  <a:pt x="8059292" y="0"/>
                </a:lnTo>
                <a:lnTo>
                  <a:pt x="8059292" y="2992525"/>
                </a:lnTo>
                <a:lnTo>
                  <a:pt x="0" y="29925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65660" y="1312466"/>
            <a:ext cx="8114006" cy="788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7"/>
              </a:lnSpc>
            </a:pPr>
            <a:r>
              <a:rPr lang="en-US" sz="5937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Conceptual Framework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5660" y="5634630"/>
            <a:ext cx="5758205" cy="67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5"/>
              </a:lnSpc>
            </a:pPr>
            <a:r>
              <a:rPr lang="en-US" sz="1260" i="true">
                <a:solidFill>
                  <a:srgbClr val="FFFFFF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Figure 1</a:t>
            </a:r>
          </a:p>
          <a:p>
            <a:pPr algn="l">
              <a:lnSpc>
                <a:spcPts val="1765"/>
              </a:lnSpc>
            </a:pPr>
            <a:r>
              <a:rPr lang="en-US" sz="126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IPO of Students’ Coding Performance between PC and Mobile Platform</a:t>
            </a:r>
          </a:p>
          <a:p>
            <a:pPr algn="l">
              <a:lnSpc>
                <a:spcPts val="1765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7489" y="2435404"/>
            <a:ext cx="9318622" cy="2037074"/>
            <a:chOff x="0" y="0"/>
            <a:chExt cx="12424829" cy="2716098"/>
          </a:xfrm>
        </p:grpSpPr>
        <p:sp>
          <p:nvSpPr>
            <p:cNvPr name="AutoShape 3" id="3"/>
            <p:cNvSpPr/>
            <p:nvPr/>
          </p:nvSpPr>
          <p:spPr>
            <a:xfrm>
              <a:off x="0" y="0"/>
              <a:ext cx="12424829" cy="2716098"/>
            </a:xfrm>
            <a:prstGeom prst="rect">
              <a:avLst/>
            </a:prstGeom>
            <a:solidFill>
              <a:srgbClr val="A5E92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468044" y="586109"/>
            <a:ext cx="6817513" cy="1541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7"/>
              </a:lnSpc>
            </a:pPr>
            <a:r>
              <a:rPr lang="en-US" sz="5937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Scope And Delimitations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0426" y="2575225"/>
            <a:ext cx="8412748" cy="1897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1. Respondents and Locale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study focuses on first-year Information Technology students.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respondents are from Pamantasan ng Lungsod ng Valenzuela.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study includes students who have experience using PCs and mobile phones for programming activities.</a:t>
            </a:r>
          </a:p>
          <a:p>
            <a:pPr algn="l">
              <a:lnSpc>
                <a:spcPts val="2520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-299641" y="1299686"/>
            <a:ext cx="1031161" cy="103116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E92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018981" y="1299686"/>
            <a:ext cx="1031161" cy="103116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E92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17489" y="4777278"/>
            <a:ext cx="9318622" cy="2037074"/>
            <a:chOff x="0" y="0"/>
            <a:chExt cx="12424829" cy="2716098"/>
          </a:xfrm>
        </p:grpSpPr>
        <p:sp>
          <p:nvSpPr>
            <p:cNvPr name="AutoShape 13" id="13"/>
            <p:cNvSpPr/>
            <p:nvPr/>
          </p:nvSpPr>
          <p:spPr>
            <a:xfrm>
              <a:off x="0" y="0"/>
              <a:ext cx="12424829" cy="2716098"/>
            </a:xfrm>
            <a:prstGeom prst="rect">
              <a:avLst/>
            </a:prstGeom>
            <a:solidFill>
              <a:srgbClr val="A5E926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70426" y="4929678"/>
            <a:ext cx="8412748" cy="170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 Focus of the Study</a:t>
            </a:r>
          </a:p>
          <a:p>
            <a:pPr algn="l" marL="345441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study examines the perceived usability of mobile phones and PCs for coding tasks.</a:t>
            </a:r>
          </a:p>
          <a:p>
            <a:pPr algn="l" marL="345441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</a:t>
            </a:r>
            <a:r>
              <a:rPr lang="en-US" sz="1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focuses on how students assess their experience when using each device.</a:t>
            </a:r>
          </a:p>
          <a:p>
            <a:pPr algn="l" marL="345441" indent="-172721" lvl="1">
              <a:lnSpc>
                <a:spcPts val="2240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study uses a researcher-made Likert-scale questionnaire.</a:t>
            </a:r>
          </a:p>
          <a:p>
            <a:pPr algn="l">
              <a:lnSpc>
                <a:spcPts val="252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7489" y="3230958"/>
            <a:ext cx="9318622" cy="2351378"/>
            <a:chOff x="0" y="0"/>
            <a:chExt cx="12424829" cy="3135170"/>
          </a:xfrm>
        </p:grpSpPr>
        <p:sp>
          <p:nvSpPr>
            <p:cNvPr name="AutoShape 3" id="3"/>
            <p:cNvSpPr/>
            <p:nvPr/>
          </p:nvSpPr>
          <p:spPr>
            <a:xfrm>
              <a:off x="0" y="0"/>
              <a:ext cx="12424829" cy="3135170"/>
            </a:xfrm>
            <a:prstGeom prst="rect">
              <a:avLst/>
            </a:prstGeom>
            <a:solidFill>
              <a:srgbClr val="A5E92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468044" y="586109"/>
            <a:ext cx="6817513" cy="1541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7"/>
              </a:lnSpc>
            </a:pPr>
            <a:r>
              <a:rPr lang="en-US" sz="5937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Scope And Delimitations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0426" y="3370778"/>
            <a:ext cx="8412748" cy="2211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 Delimitations of the Study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study does not examine the technical specifications of devices.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does not compare the performance of specific IDEs or coding tools.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 does not measure actual hardware or software performance.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Convenience sampling was used, which may limit the generalization of the findings.</a:t>
            </a:r>
          </a:p>
          <a:p>
            <a:pPr algn="l">
              <a:lnSpc>
                <a:spcPts val="2520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-299641" y="1299686"/>
            <a:ext cx="1031161" cy="103116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E92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018981" y="1299686"/>
            <a:ext cx="1031161" cy="103116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E92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C0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3002" y="460716"/>
            <a:ext cx="9236726" cy="1541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7"/>
              </a:lnSpc>
            </a:pPr>
            <a:r>
              <a:rPr lang="en-US" sz="5937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Review of Related Literature and Studies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33002" y="2144119"/>
            <a:ext cx="9093237" cy="5040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Related Literature: Usability Measurement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Usability can be measured through effectiveness, efficiency, and satisfaction.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ISO 9241-11, SUS, and USE Questionnaire support the study’s usability dimensions.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These served as the basis for assessing the perceived usability of PCs and mobile phones.</a:t>
            </a:r>
          </a:p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Related Study: Oloo and Robert (2020)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Android-based compilers can help students perform programming tasks.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Mobile coding may still be affected by small screens, keypad limitations, battery life, memory limits, and software issues.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This supports the comparison between PCs and mobile phones for coding tasks.</a:t>
            </a:r>
          </a:p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Citations: (Bevan et al., 2016; Peres et al., 2013; Gao et al., 2018; Oloo &amp; Robert, 2020)</a:t>
            </a:r>
          </a:p>
          <a:p>
            <a:pPr algn="l">
              <a:lnSpc>
                <a:spcPts val="252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C0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7151" y="1796463"/>
            <a:ext cx="8999298" cy="5042036"/>
            <a:chOff x="0" y="0"/>
            <a:chExt cx="11999064" cy="6722714"/>
          </a:xfrm>
        </p:grpSpPr>
        <p:sp>
          <p:nvSpPr>
            <p:cNvPr name="AutoShape 3" id="3"/>
            <p:cNvSpPr/>
            <p:nvPr/>
          </p:nvSpPr>
          <p:spPr>
            <a:xfrm>
              <a:off x="0" y="0"/>
              <a:ext cx="11999064" cy="6722714"/>
            </a:xfrm>
            <a:prstGeom prst="rect">
              <a:avLst/>
            </a:prstGeom>
            <a:solidFill>
              <a:srgbClr val="A5E92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377151" y="836295"/>
            <a:ext cx="8999298" cy="70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7"/>
              </a:lnSpc>
            </a:pPr>
            <a:r>
              <a:rPr lang="en-US" sz="5337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Methodology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77151" y="6781349"/>
            <a:ext cx="8999298" cy="325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Your paragraph text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31294" y="2013118"/>
            <a:ext cx="8091013" cy="448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4"/>
              </a:lnSpc>
            </a:pPr>
          </a:p>
          <a:p>
            <a:pPr algn="l" marL="388620" indent="-194310" lvl="1">
              <a:lnSpc>
                <a:spcPts val="3294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Research Design: Quantitative descriptive-comparative research design</a:t>
            </a:r>
          </a:p>
          <a:p>
            <a:pPr algn="l" marL="388620" indent="-194310" lvl="1">
              <a:lnSpc>
                <a:spcPts val="3294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Respondents: 245 first-year BSIT students</a:t>
            </a:r>
            <a:r>
              <a:rPr lang="en-US" b="true" sz="1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from PLV</a:t>
            </a:r>
          </a:p>
          <a:p>
            <a:pPr algn="l" marL="388620" indent="-194310" lvl="1">
              <a:lnSpc>
                <a:spcPts val="3294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Primary Comparative Group: 181 respondents who used both PCs and mobile phones for coding</a:t>
            </a:r>
          </a:p>
          <a:p>
            <a:pPr algn="l" marL="388620" indent="-194310" lvl="1">
              <a:lnSpc>
                <a:spcPts val="3294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 Collection: Google Forms survey distributed through class representatives</a:t>
            </a:r>
          </a:p>
          <a:p>
            <a:pPr algn="l" marL="388620" indent="-194310" lvl="1">
              <a:lnSpc>
                <a:spcPts val="3294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Statist</a:t>
            </a:r>
            <a:r>
              <a:rPr lang="en-US" b="true" sz="1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ical Tools: Weighted mean, paired sample t-</a:t>
            </a:r>
            <a:r>
              <a:rPr lang="en-US" b="true" sz="1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</a:t>
            </a:r>
            <a:r>
              <a:rPr lang="en-US" b="true" sz="1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st, and Wilcoxon Signed-Rank Test</a:t>
            </a:r>
          </a:p>
          <a:p>
            <a:pPr algn="l">
              <a:lnSpc>
                <a:spcPts val="3294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7489" y="2435404"/>
            <a:ext cx="9318622" cy="1029470"/>
            <a:chOff x="0" y="0"/>
            <a:chExt cx="12424829" cy="1372627"/>
          </a:xfrm>
        </p:grpSpPr>
        <p:sp>
          <p:nvSpPr>
            <p:cNvPr name="AutoShape 3" id="3"/>
            <p:cNvSpPr/>
            <p:nvPr/>
          </p:nvSpPr>
          <p:spPr>
            <a:xfrm>
              <a:off x="0" y="0"/>
              <a:ext cx="12424829" cy="1372627"/>
            </a:xfrm>
            <a:prstGeom prst="rect">
              <a:avLst/>
            </a:prstGeom>
            <a:solidFill>
              <a:srgbClr val="A5E92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468044" y="576584"/>
            <a:ext cx="6817513" cy="76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7"/>
              </a:lnSpc>
            </a:pPr>
            <a:r>
              <a:rPr lang="en-US" sz="5737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Results and Findings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0426" y="2601525"/>
            <a:ext cx="8412748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Section Distribution: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Well-distributed across 15 sections of 1st year BSIT; with BSIT 1-5 being the largest group (15%).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298091" y="215940"/>
            <a:ext cx="1031161" cy="103116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E92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018981" y="1299686"/>
            <a:ext cx="1031161" cy="103116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E92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468044" y="1360483"/>
            <a:ext cx="6817513" cy="439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7"/>
              </a:lnSpc>
            </a:pPr>
            <a:r>
              <a:rPr lang="en-US" sz="3037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Respondent Profile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15940" y="3569650"/>
            <a:ext cx="9318622" cy="737265"/>
            <a:chOff x="0" y="0"/>
            <a:chExt cx="12424829" cy="983021"/>
          </a:xfrm>
        </p:grpSpPr>
        <p:sp>
          <p:nvSpPr>
            <p:cNvPr name="AutoShape 14" id="14"/>
            <p:cNvSpPr/>
            <p:nvPr/>
          </p:nvSpPr>
          <p:spPr>
            <a:xfrm>
              <a:off x="0" y="0"/>
              <a:ext cx="12424829" cy="983021"/>
            </a:xfrm>
            <a:prstGeom prst="rect">
              <a:avLst/>
            </a:prstGeom>
            <a:solidFill>
              <a:srgbClr val="A5E926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70426" y="3746830"/>
            <a:ext cx="8412748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Coding Experience: 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82% are beginners; 16.3% are intermediate.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15940" y="4411690"/>
            <a:ext cx="9318622" cy="1990621"/>
            <a:chOff x="0" y="0"/>
            <a:chExt cx="12424829" cy="2654161"/>
          </a:xfrm>
        </p:grpSpPr>
        <p:sp>
          <p:nvSpPr>
            <p:cNvPr name="AutoShape 17" id="17"/>
            <p:cNvSpPr/>
            <p:nvPr/>
          </p:nvSpPr>
          <p:spPr>
            <a:xfrm>
              <a:off x="0" y="0"/>
              <a:ext cx="12424829" cy="2654161"/>
            </a:xfrm>
            <a:prstGeom prst="rect">
              <a:avLst/>
            </a:prstGeom>
            <a:solidFill>
              <a:srgbClr val="A5E926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68877" y="4586898"/>
            <a:ext cx="8412748" cy="1583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Device Experience: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181 students (74%) have used both PCs and Mobile Phones (Primary data group).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59 students used PCs exclusively; 1 student used a mobile phone exclusively.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348178" y="1994619"/>
            <a:ext cx="1057244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 = 245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7489" y="2435404"/>
            <a:ext cx="9318622" cy="727189"/>
            <a:chOff x="0" y="0"/>
            <a:chExt cx="12424829" cy="969586"/>
          </a:xfrm>
        </p:grpSpPr>
        <p:sp>
          <p:nvSpPr>
            <p:cNvPr name="AutoShape 3" id="3"/>
            <p:cNvSpPr/>
            <p:nvPr/>
          </p:nvSpPr>
          <p:spPr>
            <a:xfrm>
              <a:off x="0" y="0"/>
              <a:ext cx="12424829" cy="969586"/>
            </a:xfrm>
            <a:prstGeom prst="rect">
              <a:avLst/>
            </a:prstGeom>
            <a:solidFill>
              <a:srgbClr val="A5E92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468044" y="576584"/>
            <a:ext cx="6817513" cy="76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7"/>
              </a:lnSpc>
            </a:pPr>
            <a:r>
              <a:rPr lang="en-US" sz="5737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Results and Findings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0426" y="2607547"/>
            <a:ext cx="8412748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Overall Usability: 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Very High (Mean: 4.29)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298091" y="215940"/>
            <a:ext cx="1031161" cy="103116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E92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018981" y="1299686"/>
            <a:ext cx="1031161" cy="103116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E92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06827" y="1376170"/>
            <a:ext cx="7139946" cy="439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7"/>
              </a:lnSpc>
            </a:pPr>
            <a:r>
              <a:rPr lang="en-US" sz="3037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Perceived Usability of PC for Coding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15940" y="3267369"/>
            <a:ext cx="9318622" cy="918634"/>
            <a:chOff x="0" y="0"/>
            <a:chExt cx="12424829" cy="1224845"/>
          </a:xfrm>
        </p:grpSpPr>
        <p:sp>
          <p:nvSpPr>
            <p:cNvPr name="AutoShape 14" id="14"/>
            <p:cNvSpPr/>
            <p:nvPr/>
          </p:nvSpPr>
          <p:spPr>
            <a:xfrm>
              <a:off x="0" y="0"/>
              <a:ext cx="12424829" cy="1224845"/>
            </a:xfrm>
            <a:prstGeom prst="rect">
              <a:avLst/>
            </a:prstGeom>
            <a:solidFill>
              <a:srgbClr val="A5E926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70426" y="3378071"/>
            <a:ext cx="8412748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Top Performance Areas: 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Satisfaction (4.42), Convenience (4.39), and Ease of Use (4.30) all rated "Very High."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15940" y="4290778"/>
            <a:ext cx="9318622" cy="2292902"/>
            <a:chOff x="0" y="0"/>
            <a:chExt cx="12424829" cy="3057203"/>
          </a:xfrm>
        </p:grpSpPr>
        <p:sp>
          <p:nvSpPr>
            <p:cNvPr name="AutoShape 17" id="17"/>
            <p:cNvSpPr/>
            <p:nvPr/>
          </p:nvSpPr>
          <p:spPr>
            <a:xfrm>
              <a:off x="0" y="0"/>
              <a:ext cx="12424829" cy="3057203"/>
            </a:xfrm>
            <a:prstGeom prst="rect">
              <a:avLst/>
            </a:prstGeom>
            <a:solidFill>
              <a:srgbClr val="A5E926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70426" y="4459964"/>
            <a:ext cx="8412748" cy="189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Theoretical Grounding: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FITT Framework &amp; HCI Theory: 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Physical keyboard and large screens match complex programming requirements perfectly.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Fitts' Law: 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Physical keys drastically lower input time and error rates.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Cognitive Load Theory: 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Multi-window capabilities reduce screen-management frustration, letting students focus on coding logic.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7489" y="2435404"/>
            <a:ext cx="9318622" cy="727189"/>
            <a:chOff x="0" y="0"/>
            <a:chExt cx="12424829" cy="969586"/>
          </a:xfrm>
        </p:grpSpPr>
        <p:sp>
          <p:nvSpPr>
            <p:cNvPr name="AutoShape 3" id="3"/>
            <p:cNvSpPr/>
            <p:nvPr/>
          </p:nvSpPr>
          <p:spPr>
            <a:xfrm>
              <a:off x="0" y="0"/>
              <a:ext cx="12424829" cy="969586"/>
            </a:xfrm>
            <a:prstGeom prst="rect">
              <a:avLst/>
            </a:prstGeom>
            <a:solidFill>
              <a:srgbClr val="A5E92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468044" y="576584"/>
            <a:ext cx="6817513" cy="76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7"/>
              </a:lnSpc>
            </a:pPr>
            <a:r>
              <a:rPr lang="en-US" sz="5737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Results and Findings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0426" y="2607547"/>
            <a:ext cx="8412748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Overall Usability: 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Moderate to Low (Mean: 2.73)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298091" y="215940"/>
            <a:ext cx="1031161" cy="103116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E92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018981" y="1299686"/>
            <a:ext cx="1031161" cy="103116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E92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06827" y="1376170"/>
            <a:ext cx="7139946" cy="820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7"/>
              </a:lnSpc>
            </a:pPr>
            <a:r>
              <a:rPr lang="en-US" sz="3037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Perceived Usability of Mobile Phone for Coding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15940" y="3267369"/>
            <a:ext cx="9318622" cy="918634"/>
            <a:chOff x="0" y="0"/>
            <a:chExt cx="12424829" cy="1224845"/>
          </a:xfrm>
        </p:grpSpPr>
        <p:sp>
          <p:nvSpPr>
            <p:cNvPr name="AutoShape 14" id="14"/>
            <p:cNvSpPr/>
            <p:nvPr/>
          </p:nvSpPr>
          <p:spPr>
            <a:xfrm>
              <a:off x="0" y="0"/>
              <a:ext cx="12424829" cy="1224845"/>
            </a:xfrm>
            <a:prstGeom prst="rect">
              <a:avLst/>
            </a:prstGeom>
            <a:solidFill>
              <a:srgbClr val="A5E926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70426" y="3378071"/>
            <a:ext cx="8412748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Breakdown: 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Effectiveness (3.30) and Efficiency (2.70) are "Moderate," but Satisfaction (2.57) and Convenience (2.40) are "Low."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17489" y="4290778"/>
            <a:ext cx="9318622" cy="918634"/>
            <a:chOff x="0" y="0"/>
            <a:chExt cx="12424829" cy="1224845"/>
          </a:xfrm>
        </p:grpSpPr>
        <p:sp>
          <p:nvSpPr>
            <p:cNvPr name="AutoShape 17" id="17"/>
            <p:cNvSpPr/>
            <p:nvPr/>
          </p:nvSpPr>
          <p:spPr>
            <a:xfrm>
              <a:off x="0" y="0"/>
              <a:ext cx="12424829" cy="1224845"/>
            </a:xfrm>
            <a:prstGeom prst="rect">
              <a:avLst/>
            </a:prstGeom>
            <a:solidFill>
              <a:srgbClr val="A5E926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70426" y="4401480"/>
            <a:ext cx="8412748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Core Issue: 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Students find mobile coding difficult and uncomfortable due to a lack of physical interfaces.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217489" y="5314187"/>
            <a:ext cx="9318622" cy="1815401"/>
            <a:chOff x="0" y="0"/>
            <a:chExt cx="12424829" cy="2420535"/>
          </a:xfrm>
        </p:grpSpPr>
        <p:sp>
          <p:nvSpPr>
            <p:cNvPr name="AutoShape 20" id="20"/>
            <p:cNvSpPr/>
            <p:nvPr/>
          </p:nvSpPr>
          <p:spPr>
            <a:xfrm>
              <a:off x="0" y="0"/>
              <a:ext cx="12424829" cy="2420535"/>
            </a:xfrm>
            <a:prstGeom prst="rect">
              <a:avLst/>
            </a:prstGeom>
            <a:solidFill>
              <a:srgbClr val="A5E926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670426" y="5424889"/>
            <a:ext cx="8412748" cy="1583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Theoretical Grounding: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Fitts' Law: 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Virtual keys increase the "index of difficulty" for special characters.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Cognitive Load Theory: 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Constant app-toggling on tiny screens creates high mental fatigue.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7489" y="2435404"/>
            <a:ext cx="9318622" cy="989166"/>
            <a:chOff x="0" y="0"/>
            <a:chExt cx="12424829" cy="1318888"/>
          </a:xfrm>
        </p:grpSpPr>
        <p:sp>
          <p:nvSpPr>
            <p:cNvPr name="AutoShape 3" id="3"/>
            <p:cNvSpPr/>
            <p:nvPr/>
          </p:nvSpPr>
          <p:spPr>
            <a:xfrm>
              <a:off x="0" y="0"/>
              <a:ext cx="12424829" cy="1318888"/>
            </a:xfrm>
            <a:prstGeom prst="rect">
              <a:avLst/>
            </a:prstGeom>
            <a:solidFill>
              <a:srgbClr val="A5E92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468044" y="576584"/>
            <a:ext cx="6817513" cy="76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7"/>
              </a:lnSpc>
            </a:pPr>
            <a:r>
              <a:rPr lang="en-US" sz="5737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Results and Findings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0426" y="2581373"/>
            <a:ext cx="8412748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The Comparison: 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PCs heavily outperformed mobile phones in every single category (Overall: 4.29 vs. 2.73).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298091" y="215940"/>
            <a:ext cx="1031161" cy="103116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E92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018981" y="1299686"/>
            <a:ext cx="1031161" cy="103116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E92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06827" y="1376170"/>
            <a:ext cx="7139946" cy="439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7"/>
              </a:lnSpc>
            </a:pPr>
            <a:r>
              <a:rPr lang="en-US" sz="3037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PC vs. Mobile Phones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17489" y="4623287"/>
            <a:ext cx="9318622" cy="1210839"/>
            <a:chOff x="0" y="0"/>
            <a:chExt cx="12424829" cy="1614452"/>
          </a:xfrm>
        </p:grpSpPr>
        <p:sp>
          <p:nvSpPr>
            <p:cNvPr name="AutoShape 14" id="14"/>
            <p:cNvSpPr/>
            <p:nvPr/>
          </p:nvSpPr>
          <p:spPr>
            <a:xfrm>
              <a:off x="0" y="0"/>
              <a:ext cx="12424829" cy="1614452"/>
            </a:xfrm>
            <a:prstGeom prst="rect">
              <a:avLst/>
            </a:prstGeom>
            <a:solidFill>
              <a:srgbClr val="A5E926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70426" y="4722929"/>
            <a:ext cx="8412748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Conclusion: 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Reject the Null Hypothesis. There is a statistically significant difference in usability favoring the PC, backed by large effect sizes (Cohen's </a:t>
            </a:r>
            <a:r>
              <a:rPr lang="en-US" sz="18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&gt; 0.8). 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17489" y="3529346"/>
            <a:ext cx="9318622" cy="989166"/>
            <a:chOff x="0" y="0"/>
            <a:chExt cx="12424829" cy="1318888"/>
          </a:xfrm>
        </p:grpSpPr>
        <p:sp>
          <p:nvSpPr>
            <p:cNvPr name="AutoShape 17" id="17"/>
            <p:cNvSpPr/>
            <p:nvPr/>
          </p:nvSpPr>
          <p:spPr>
            <a:xfrm>
              <a:off x="0" y="0"/>
              <a:ext cx="12424829" cy="1318888"/>
            </a:xfrm>
            <a:prstGeom prst="rect">
              <a:avLst/>
            </a:prstGeom>
            <a:solidFill>
              <a:srgbClr val="A5E926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70426" y="3675314"/>
            <a:ext cx="8412748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Statistical Significance: 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Both Paired Sample T-Test and Wilcoxon Signed-Rank Test yielded </a:t>
            </a:r>
            <a:r>
              <a:rPr lang="en-US" sz="18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&lt; 0.05. 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217489" y="5938901"/>
            <a:ext cx="9318622" cy="958938"/>
            <a:chOff x="0" y="0"/>
            <a:chExt cx="12424829" cy="1278584"/>
          </a:xfrm>
        </p:grpSpPr>
        <p:sp>
          <p:nvSpPr>
            <p:cNvPr name="AutoShape 20" id="20"/>
            <p:cNvSpPr/>
            <p:nvPr/>
          </p:nvSpPr>
          <p:spPr>
            <a:xfrm>
              <a:off x="0" y="0"/>
              <a:ext cx="12424829" cy="1278584"/>
            </a:xfrm>
            <a:prstGeom prst="rect">
              <a:avLst/>
            </a:prstGeom>
            <a:solidFill>
              <a:srgbClr val="A5E926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670426" y="6069755"/>
            <a:ext cx="8412748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Device Preference: 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157 students strictly prefer PCs. 23 prefer using both. 0% prefer mobile phones alone.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7489" y="2435404"/>
            <a:ext cx="9318622" cy="646266"/>
            <a:chOff x="0" y="0"/>
            <a:chExt cx="12424829" cy="861688"/>
          </a:xfrm>
        </p:grpSpPr>
        <p:sp>
          <p:nvSpPr>
            <p:cNvPr name="AutoShape 3" id="3"/>
            <p:cNvSpPr/>
            <p:nvPr/>
          </p:nvSpPr>
          <p:spPr>
            <a:xfrm>
              <a:off x="0" y="0"/>
              <a:ext cx="12424829" cy="861688"/>
            </a:xfrm>
            <a:prstGeom prst="rect">
              <a:avLst/>
            </a:prstGeom>
            <a:solidFill>
              <a:srgbClr val="A5E92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468044" y="576584"/>
            <a:ext cx="6817513" cy="76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7"/>
              </a:lnSpc>
            </a:pPr>
            <a:r>
              <a:rPr lang="en-US" sz="5737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Results and Findings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0426" y="2567085"/>
            <a:ext cx="8412748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Current PC Usability: 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Rated High (Mean: 4.18).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298091" y="215940"/>
            <a:ext cx="1031161" cy="103116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E92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018981" y="1299686"/>
            <a:ext cx="1031161" cy="103116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E92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06827" y="1376170"/>
            <a:ext cx="7139946" cy="820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7"/>
              </a:lnSpc>
            </a:pPr>
            <a:r>
              <a:rPr lang="en-US" sz="3037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Supplementary Analysis (PC-Only Users)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17489" y="3937487"/>
            <a:ext cx="9318622" cy="2088084"/>
            <a:chOff x="0" y="0"/>
            <a:chExt cx="12424829" cy="2784112"/>
          </a:xfrm>
        </p:grpSpPr>
        <p:sp>
          <p:nvSpPr>
            <p:cNvPr name="AutoShape 14" id="14"/>
            <p:cNvSpPr/>
            <p:nvPr/>
          </p:nvSpPr>
          <p:spPr>
            <a:xfrm>
              <a:off x="0" y="0"/>
              <a:ext cx="12424829" cy="2784112"/>
            </a:xfrm>
            <a:prstGeom prst="rect">
              <a:avLst/>
            </a:prstGeom>
            <a:solidFill>
              <a:srgbClr val="A5E926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68877" y="4161426"/>
            <a:ext cx="8412748" cy="1583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Key Findings: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Students without mobile coding experience are highly hesitant and disagree that mobile coding would be convenient.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However, they show moderate openness to using mobile phones strictly for emergencies or quick, short-term tasks.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15940" y="3186446"/>
            <a:ext cx="9318622" cy="646266"/>
            <a:chOff x="0" y="0"/>
            <a:chExt cx="12424829" cy="861688"/>
          </a:xfrm>
        </p:grpSpPr>
        <p:sp>
          <p:nvSpPr>
            <p:cNvPr name="AutoShape 17" id="17"/>
            <p:cNvSpPr/>
            <p:nvPr/>
          </p:nvSpPr>
          <p:spPr>
            <a:xfrm>
              <a:off x="0" y="0"/>
              <a:ext cx="12424829" cy="861688"/>
            </a:xfrm>
            <a:prstGeom prst="rect">
              <a:avLst/>
            </a:prstGeom>
            <a:solidFill>
              <a:srgbClr val="A5E926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68877" y="3318126"/>
            <a:ext cx="8412748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Mobile Phone Acceptance: 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Rated Neutral (Mean: 2.81).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C0F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84245" y="6583680"/>
            <a:ext cx="5181294" cy="5181294"/>
          </a:xfrm>
          <a:custGeom>
            <a:avLst/>
            <a:gdLst/>
            <a:ahLst/>
            <a:cxnLst/>
            <a:rect r="r" b="b" t="t" l="l"/>
            <a:pathLst>
              <a:path h="5181294" w="5181294">
                <a:moveTo>
                  <a:pt x="0" y="0"/>
                </a:moveTo>
                <a:lnTo>
                  <a:pt x="5181294" y="0"/>
                </a:lnTo>
                <a:lnTo>
                  <a:pt x="5181294" y="5181294"/>
                </a:lnTo>
                <a:lnTo>
                  <a:pt x="0" y="5181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87448" y="6583680"/>
            <a:ext cx="5150396" cy="5181294"/>
          </a:xfrm>
          <a:custGeom>
            <a:avLst/>
            <a:gdLst/>
            <a:ahLst/>
            <a:cxnLst/>
            <a:rect r="r" b="b" t="t" l="l"/>
            <a:pathLst>
              <a:path h="5181294" w="5150396">
                <a:moveTo>
                  <a:pt x="0" y="0"/>
                </a:moveTo>
                <a:lnTo>
                  <a:pt x="5150397" y="0"/>
                </a:lnTo>
                <a:lnTo>
                  <a:pt x="5150397" y="5181294"/>
                </a:lnTo>
                <a:lnTo>
                  <a:pt x="0" y="5181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99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456710" y="731520"/>
            <a:ext cx="4438177" cy="7090962"/>
            <a:chOff x="0" y="0"/>
            <a:chExt cx="5917569" cy="9454615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4"/>
            <a:srcRect l="14845" t="0" r="38212" b="0"/>
            <a:stretch>
              <a:fillRect/>
            </a:stretch>
          </p:blipFill>
          <p:spPr>
            <a:xfrm flipH="true" flipV="false">
              <a:off x="0" y="0"/>
              <a:ext cx="5917569" cy="9454615"/>
            </a:xfrm>
            <a:prstGeom prst="rect">
              <a:avLst/>
            </a:prstGeom>
          </p:spPr>
        </p:pic>
      </p:grpSp>
      <p:sp>
        <p:nvSpPr>
          <p:cNvPr name="AutoShape 6" id="6"/>
          <p:cNvSpPr/>
          <p:nvPr/>
        </p:nvSpPr>
        <p:spPr>
          <a:xfrm flipV="true">
            <a:off x="1339686" y="4138888"/>
            <a:ext cx="4318425" cy="0"/>
          </a:xfrm>
          <a:prstGeom prst="line">
            <a:avLst/>
          </a:prstGeom>
          <a:ln cap="flat" w="28575">
            <a:solidFill>
              <a:srgbClr val="A5E9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339686" y="1363671"/>
            <a:ext cx="3939505" cy="2293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7"/>
              </a:lnSpc>
            </a:pPr>
            <a:r>
              <a:rPr lang="en-US" sz="5937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Conclusion and Next Steps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9686" y="4514988"/>
            <a:ext cx="4318425" cy="126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 implementation can transform your organization. Start small, scale strategically, and continuously refine your models for improvement.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822095" y="1070150"/>
            <a:ext cx="1269229" cy="1269229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E92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DAHKKi0HaPE</dc:identifier>
  <dcterms:modified xsi:type="dcterms:W3CDTF">2011-08-01T06:04:30Z</dcterms:modified>
  <cp:revision>1</cp:revision>
  <dc:title>GROUP 6 PPT</dc:title>
</cp:coreProperties>
</file>